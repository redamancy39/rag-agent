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77240"/>
            <a:ext cx="6858000" cy="12344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YaHei"/>
              </a:rPr>
              <a:t>多用户权限控制的
RAG Agent 知识库系统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231136"/>
            <a:ext cx="74066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Microsoft YaHei"/>
              </a:rPr>
              <a:t>面向企业文档的可溯源问答系统：从文档预处理开始提升 RAG 可靠性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862072"/>
            <a:ext cx="109728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D7C74"/>
                </a:solidFill>
                <a:latin typeface="Microsoft YaHei"/>
              </a:rPr>
              <a:t>文档预处理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862072"/>
            <a:ext cx="109728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OCR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0128" y="2862072"/>
            <a:ext cx="109728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9E0B"/>
                </a:solidFill>
                <a:latin typeface="Microsoft YaHei"/>
              </a:rPr>
              <a:t>表格事实化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8576" y="2862072"/>
            <a:ext cx="109728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11D48"/>
                </a:solidFill>
                <a:latin typeface="Microsoft YaHei"/>
              </a:rPr>
              <a:t>权限检索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7024" y="2862072"/>
            <a:ext cx="109728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A34A"/>
                </a:solidFill>
                <a:latin typeface="Microsoft YaHei"/>
              </a:rPr>
              <a:t>防幻觉回答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7498079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Vue3 + FastAPI + ChromaDB + BGE + PaddleOCR + DeepSeek API</a:t>
            </a:r>
          </a:p>
        </p:txBody>
      </p:sp>
      <p:sp>
        <p:nvSpPr>
          <p:cNvPr id="10" name="Oval 9"/>
          <p:cNvSpPr/>
          <p:nvPr/>
        </p:nvSpPr>
        <p:spPr>
          <a:xfrm>
            <a:off x="7132320" y="4434840"/>
            <a:ext cx="566928" cy="566928"/>
          </a:xfrm>
          <a:prstGeom prst="ellipse">
            <a:avLst/>
          </a:prstGeom>
          <a:solidFill>
            <a:srgbClr val="0D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5093207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PDF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08392" y="4718303"/>
            <a:ext cx="36576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092440" y="443484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5093207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OCR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68512" y="4718303"/>
            <a:ext cx="36576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052560" y="443484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5093207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Chunk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28632" y="4718303"/>
            <a:ext cx="36576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012680" y="443484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9528" y="5093207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Rerank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88752" y="4718303"/>
            <a:ext cx="36576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972800" y="4434840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99648" y="5093207"/>
            <a:ext cx="73152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143000"/>
            <a:ext cx="4389120" cy="7132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D7C74"/>
                </a:solidFill>
                <a:latin typeface="Microsoft YaHei"/>
              </a:rPr>
              <a:t>核心观点：RAG 的准确率上限，很大程度取决于文档预处理和切块质量。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02 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企业文档 RAG 的真实难点：不是“能不能问”，而是“能不能可靠地入库”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扫描件、水印 PDF、表格密集标准文件会直接影响后续检索和回答质量。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92808"/>
            <a:ext cx="3026664" cy="448970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se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1640"/>
            <a:ext cx="2971800" cy="3992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58768" y="1892808"/>
            <a:ext cx="3026664" cy="448970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se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135433"/>
            <a:ext cx="2971800" cy="400445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2029968"/>
            <a:ext cx="960120" cy="2926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扫描件 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029968"/>
            <a:ext cx="960120" cy="2926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11D48"/>
                </a:solidFill>
                <a:latin typeface="Microsoft YaHei"/>
              </a:rPr>
              <a:t>带水印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920240"/>
            <a:ext cx="402336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2176272"/>
            <a:ext cx="30175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Microsoft YaHei"/>
              </a:rPr>
              <a:t>直接切块会出什么问题？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2697480"/>
            <a:ext cx="3337560" cy="1828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扫描件没有稳定文本层，普通 PDF 读取为空或乱码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水印会干扰 OCR，表格线和正文容易混在一起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标准文件的答案常在表格行中，简单按页切块会丢失结构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如果入库片段质量差，后续 Embedding、Reranker、LLM 都难以补救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5212080"/>
            <a:ext cx="320040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7C74"/>
                </a:solidFill>
                <a:latin typeface="Microsoft YaHei"/>
              </a:rPr>
              <a:t>因此本项目把预处理作为 RAG 链路的核心模块，而不是上传后的附属步骤。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03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系统架构：前端、后端、业务库、向量库与模型服务解耦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用工程化结构承载文档上传、权限控制、检索问答和后续 Agent 扩展。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2240280"/>
            <a:ext cx="2148840" cy="914400"/>
          </a:xfrm>
          <a:prstGeom prst="roundRect">
            <a:avLst/>
          </a:prstGeom>
          <a:solidFill>
            <a:srgbClr val="E5F3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Vue3 前端
上传 / 文档 / 问答 / 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240280"/>
            <a:ext cx="214884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FastAPI 后端
认证 / 文档 / 权限 /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37360"/>
            <a:ext cx="1965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SQLite
用户 / 文档 / 权限 / 日志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063240"/>
            <a:ext cx="1965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ChromaDB
chunk 向量 + metadata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08592" y="2240280"/>
            <a:ext cx="2057400" cy="914400"/>
          </a:xfrm>
          <a:prstGeom prst="roundRect">
            <a:avLst/>
          </a:prstGeom>
          <a:solidFill>
            <a:srgbClr val="DFF5F1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模型服务
BGE / Reranker / OCR / LLM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0360" y="2697480"/>
            <a:ext cx="7772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815584" y="2148840"/>
            <a:ext cx="768096" cy="36576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15584" y="2880360"/>
            <a:ext cx="768096" cy="59436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49640" y="2148840"/>
            <a:ext cx="758952" cy="36576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549640" y="2880360"/>
            <a:ext cx="758952" cy="59436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800600"/>
            <a:ext cx="10424160" cy="7772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• 业务数据库记录用户、文档状态、权限、问答日志和审计日志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• 向量库只负责 chunk 检索，并通过 metadata 做权限过滤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Microsoft YaHei"/>
              </a:defRPr>
            </a:pPr>
            <a:r>
              <a:t>• 模型能力封装为独立模块，便于替换本地模型或 API 服务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04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完整链路：从上传文档到可溯源问答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每个阶段都记录状态，便于排查“为什么检索不到、为什么回答不准”。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2148840"/>
            <a:ext cx="1371600" cy="512064"/>
          </a:xfrm>
          <a:prstGeom prst="roundRect">
            <a:avLst/>
          </a:prstGeom>
          <a:solidFill>
            <a:srgbClr val="E5F3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1 上传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9" y="2816352"/>
            <a:ext cx="150876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PDF / MD / TXT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404872"/>
            <a:ext cx="45720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32304" y="2148840"/>
            <a:ext cx="1371600" cy="512064"/>
          </a:xfrm>
          <a:prstGeom prst="roundRect">
            <a:avLst/>
          </a:prstGeom>
          <a:solidFill>
            <a:srgbClr val="DFF5F1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2 探测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816352"/>
            <a:ext cx="150876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可读性 / 表格密度 / OCR需求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22191" y="2404872"/>
            <a:ext cx="457201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34256" y="2148840"/>
            <a:ext cx="137160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3 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816352"/>
            <a:ext cx="150876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PyMuPDF / pypdf / PaddleOCR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24144" y="2404872"/>
            <a:ext cx="45720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36208" y="2148840"/>
            <a:ext cx="137160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4 增强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816352"/>
            <a:ext cx="150876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表格事实化 / LLM归一化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26096" y="2404872"/>
            <a:ext cx="45720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2148840"/>
            <a:ext cx="1371600" cy="512064"/>
          </a:xfrm>
          <a:prstGeom prst="roundRect">
            <a:avLst/>
          </a:prstGeom>
          <a:solidFill>
            <a:srgbClr val="E5F3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5 入库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816352"/>
            <a:ext cx="150876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BGE Embedding / ChromaDB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28048" y="2404872"/>
            <a:ext cx="457200" cy="0"/>
          </a:xfrm>
          <a:prstGeom prst="line">
            <a:avLst/>
          </a:prstGeom>
          <a:ln w="1778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40112" y="2148840"/>
            <a:ext cx="1371600" cy="512064"/>
          </a:xfrm>
          <a:prstGeom prst="roundRect">
            <a:avLst/>
          </a:prstGeom>
          <a:solidFill>
            <a:srgbClr val="DFF5F1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6 问答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816352"/>
            <a:ext cx="150876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权限过滤 / Rerank / 引用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023360"/>
            <a:ext cx="100126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4297680"/>
            <a:ext cx="20116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D7C74"/>
                </a:solidFill>
                <a:latin typeface="Microsoft YaHei"/>
              </a:rPr>
              <a:t>可观测性贯穿全链路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315968"/>
            <a:ext cx="699516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icrosoft YaHei"/>
              </a:rPr>
              <a:t>文档状态、处理任务、chunk 数、质量分数、引用来源、问答日志、权限变更审计都可追踪。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4828032"/>
            <a:ext cx="804672" cy="256032"/>
          </a:xfrm>
          <a:prstGeom prst="roundRect">
            <a:avLst/>
          </a:prstGeom>
          <a:solidFill>
            <a:srgbClr val="F7FAFC"/>
          </a:solidFill>
          <a:ln w="889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D7C74"/>
                </a:solidFill>
                <a:latin typeface="Microsoft YaHei"/>
              </a:rPr>
              <a:t>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4828032"/>
            <a:ext cx="804672" cy="256032"/>
          </a:xfrm>
          <a:prstGeom prst="roundRect">
            <a:avLst/>
          </a:prstGeom>
          <a:solidFill>
            <a:srgbClr val="F7FAFC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2563EB"/>
                </a:solidFill>
                <a:latin typeface="Microsoft YaHei"/>
              </a:rPr>
              <a:t>job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4828032"/>
            <a:ext cx="804672" cy="256032"/>
          </a:xfrm>
          <a:prstGeom prst="roundRect">
            <a:avLst/>
          </a:prstGeom>
          <a:solidFill>
            <a:srgbClr val="F7FAFC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59E0B"/>
                </a:solidFill>
                <a:latin typeface="Microsoft YaHei"/>
              </a:rPr>
              <a:t>quality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4828032"/>
            <a:ext cx="804672" cy="256032"/>
          </a:xfrm>
          <a:prstGeom prst="roundRect">
            <a:avLst/>
          </a:prstGeom>
          <a:solidFill>
            <a:srgbClr val="F7FAFC"/>
          </a:solidFill>
          <a:ln w="889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11D48"/>
                </a:solidFill>
                <a:latin typeface="Microsoft YaHei"/>
              </a:rPr>
              <a:t>source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4828032"/>
            <a:ext cx="804672" cy="256032"/>
          </a:xfrm>
          <a:prstGeom prst="roundRect">
            <a:avLst/>
          </a:prstGeom>
          <a:solidFill>
            <a:srgbClr val="F7FAFC"/>
          </a:solidFill>
          <a:ln w="88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6A34A"/>
                </a:solidFill>
                <a:latin typeface="Microsoft YaHei"/>
              </a:rPr>
              <a:t>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05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轻量 Ingestion Agent：先探测，再选择处理策略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当前版本以规则调度为主，后续可平滑迁移到 LangGraph 节点。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1280160" cy="502920"/>
          </a:xfrm>
          <a:prstGeom prst="roundRect">
            <a:avLst/>
          </a:prstGeom>
          <a:solidFill>
            <a:srgbClr val="E5F3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文件上传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31720"/>
            <a:ext cx="1828800" cy="960120"/>
          </a:xfrm>
          <a:prstGeom prst="roundRect">
            <a:avLst/>
          </a:prstGeom>
          <a:solidFill>
            <a:srgbClr val="DFF5F1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轻量探测
文本层 / 页数 / 表格密度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2468880"/>
            <a:ext cx="13258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策略判断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00200"/>
            <a:ext cx="14173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普通 PDF
文本解析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542032"/>
            <a:ext cx="14173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扫描件
OCR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474720"/>
            <a:ext cx="141732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表格密集
事实化切块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2542032"/>
            <a:ext cx="1600200" cy="621792"/>
          </a:xfrm>
          <a:prstGeom prst="roundRect">
            <a:avLst/>
          </a:prstGeom>
          <a:solidFill>
            <a:srgbClr val="DFF5F1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质量评分
LLM归一化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2816352"/>
            <a:ext cx="6400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2816352"/>
            <a:ext cx="868680" cy="0"/>
          </a:xfrm>
          <a:prstGeom prst="line">
            <a:avLst/>
          </a:prstGeom>
          <a:ln w="25400">
            <a:solidFill>
              <a:srgbClr val="0D7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766560" y="1920240"/>
            <a:ext cx="731519" cy="89611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66560" y="2816352"/>
            <a:ext cx="731519" cy="36576"/>
          </a:xfrm>
          <a:prstGeom prst="line">
            <a:avLst/>
          </a:prstGeom>
          <a:ln w="2540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66560" y="2816352"/>
            <a:ext cx="731519" cy="97840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15400" y="1920240"/>
            <a:ext cx="822960" cy="82296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15400" y="2852928"/>
            <a:ext cx="82296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915400" y="3063240"/>
            <a:ext cx="822960" cy="73152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7280" y="5074920"/>
            <a:ext cx="9875520" cy="685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• 避免所有文件都强制走 OCR 或 LLM，降低成本和等待时间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• 对低质量 OCR、表格型切块进行结构化整理，提高检索可命中性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• 处理状态回写任务表，前端能展示当前处于解析、OCR、LLM 还是 embedding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06 表格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表格事实化：把“看得懂的表格”转成“检索得到的知识事实”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国标类文档的答案常以表格行形式存在，事实化能显著提升数值类问答稳定性。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4892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19202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Microsoft YaHei"/>
              </a:rPr>
              <a:t>普通读取后的片段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3931920" cy="16459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Microsoft YaHei"/>
              </a:rPr>
              <a:t>表7
动物种类
靶组织
最大残留限量，μg/kg
家禽
蛋
4
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411480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问题：行列关系被破坏，检索和生成都容易答错。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06440" y="3703320"/>
            <a:ext cx="594360" cy="0"/>
          </a:xfrm>
          <a:prstGeom prst="line">
            <a:avLst/>
          </a:prstGeom>
          <a:ln w="27940">
            <a:solidFill>
              <a:srgbClr val="0D7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1965960"/>
            <a:ext cx="4892040" cy="3611880"/>
          </a:xfrm>
          <a:prstGeom prst="roundRect">
            <a:avLst/>
          </a:prstGeom>
          <a:solidFill>
            <a:srgbClr val="DFF5F1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12848"/>
            <a:ext cx="21031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7C74"/>
                </a:solidFill>
                <a:latin typeface="Microsoft YaHei"/>
              </a:rPr>
              <a:t>事实化后的入库文本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788920"/>
            <a:ext cx="3977639" cy="1371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</a:rPr>
              <a:t>来源文件：GB 31650.1-2022；页码：第6页；表号：表7。
事实：青霉素在家禽蛋中的最大残留限量为 4 μg/kg。
字段：兽药=青霉素；动物种类=家禽；靶组织=蛋；限量=4；单位=μg/kg。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892040"/>
            <a:ext cx="4023360" cy="3657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优势：保留来源、页码、表号、字段关系，适合关键词、BM25 与向量检索共同命中。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07 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可视化入库进度：让重处理任务不再像“卡住”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上传后展示解析、OCR、LLM 归一化、Embedding 等阶段，用户能判断等待是否正常。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01368"/>
            <a:ext cx="6547103" cy="426110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28649"/>
            <a:ext cx="6492240" cy="280654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828800"/>
            <a:ext cx="3657600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103120"/>
            <a:ext cx="219456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Microsoft YaHei"/>
              </a:rPr>
              <a:t>界面展示的关键信息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697480"/>
            <a:ext cx="2834640" cy="1645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是否开启“大模型整理 OCR / 表格切块”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当前正在处理哪个文档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当前阶段：OCR / LLM 归一化 / 入库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处理进度百分比，降低用户等待焦虑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166360"/>
            <a:ext cx="292608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D7C74"/>
                </a:solidFill>
                <a:latin typeface="Microsoft YaHei"/>
              </a:rPr>
              <a:t>适合活动现场演示：评委能直接看到文档入库不是黑盒。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08 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系统界面：文档入库工作台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上传、状态统计、模型配置、最近入库文档在同一工作台中集中展示。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" y="1801368"/>
            <a:ext cx="7964424" cy="4398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91021"/>
            <a:ext cx="7909560" cy="341895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23960" y="1828800"/>
            <a:ext cx="251460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70848" y="2084831"/>
            <a:ext cx="128016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D7C74"/>
                </a:solidFill>
                <a:latin typeface="Microsoft YaHei"/>
              </a:rPr>
              <a:t>演示讲法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651760"/>
            <a:ext cx="1874519" cy="1645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登录后上传 PDF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系统自动解析并入库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文档列表显示状态、chunk 数和上传者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管理员可删除文档或查看切块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91440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5001768"/>
            <a:ext cx="6400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Microsoft YaHei"/>
              </a:rPr>
              <a:t>BGE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5330952"/>
            <a:ext cx="6400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Embedding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4892040"/>
            <a:ext cx="91440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000" y="5001768"/>
            <a:ext cx="6400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E11D48"/>
                </a:solidFill>
                <a:latin typeface="Microsoft YaHei"/>
              </a:rPr>
              <a:t>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5330952"/>
            <a:ext cx="6400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Fallback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09 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系统界面：问答测试与证据核查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对话式问答支持选择任意数量文档，回答按“分类判断、结论、依据、引用”呈现。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" y="1801368"/>
            <a:ext cx="8101584" cy="444398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36286"/>
            <a:ext cx="8046720" cy="37741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79408" y="1828800"/>
            <a:ext cx="242316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2103120"/>
            <a:ext cx="155448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11D48"/>
                </a:solidFill>
                <a:latin typeface="Microsoft YaHei"/>
              </a:rPr>
              <a:t>防幻觉设计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697480"/>
            <a:ext cx="1874519" cy="1737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先检索权限内文档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证据不足则回答“未找到”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返回引用来源，便于人工复核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• 检索依据默认收起，界面不干扰主答案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5257800"/>
            <a:ext cx="1874519" cy="34747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D7C74"/>
                </a:solidFill>
                <a:latin typeface="Microsoft YaHei"/>
              </a:rPr>
              <a:t>适合企业内部文档：宁可不答，也不编造。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10 检索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检索增强：向量检索解决语义，BM25 兜住标准号和数值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食品国标问答中，添加剂名称、标准号、限量值对关键词召回更敏感。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280160" cy="548640"/>
          </a:xfrm>
          <a:prstGeom prst="roundRect">
            <a:avLst/>
          </a:prstGeom>
          <a:solidFill>
            <a:srgbClr val="E5F3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用户问题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874519"/>
            <a:ext cx="15544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Query 归一化
tokenizer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417320"/>
            <a:ext cx="164592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向量召回
BGE + ChromaDB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743200"/>
            <a:ext cx="164592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BM25 / 关键词
标准号、术语、数值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057400"/>
            <a:ext cx="1463040" cy="685800"/>
          </a:xfrm>
          <a:prstGeom prst="roundRect">
            <a:avLst/>
          </a:prstGeom>
          <a:solidFill>
            <a:srgbClr val="DFF5F1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候选融合
score merge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2057400"/>
            <a:ext cx="150876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BGE Reranker
精排 top-k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3657600"/>
            <a:ext cx="1508760" cy="685800"/>
          </a:xfrm>
          <a:prstGeom prst="roundRect">
            <a:avLst/>
          </a:prstGeom>
          <a:solidFill>
            <a:srgbClr val="DFF5F1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LLM 生成
引用来源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011680" y="2212848"/>
            <a:ext cx="640080" cy="80467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206240" y="1755648"/>
            <a:ext cx="594360" cy="45720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06240" y="2212848"/>
            <a:ext cx="594360" cy="896112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46520" y="1755648"/>
            <a:ext cx="731520" cy="54864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446520" y="2450592"/>
            <a:ext cx="731520" cy="658368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41080" y="2404872"/>
            <a:ext cx="548640" cy="0"/>
          </a:xfrm>
          <a:prstGeom prst="line">
            <a:avLst/>
          </a:prstGeom>
          <a:ln w="2540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48672" y="2743200"/>
            <a:ext cx="0" cy="91440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0240" y="5303520"/>
            <a:ext cx="8046720" cy="34747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D7C74"/>
                </a:solidFill>
                <a:latin typeface="Microsoft YaHei"/>
              </a:rPr>
              <a:t>核心策略：不依赖单一路径召回，先扩大候选，再精排压缩上下文。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11 权限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权限系统：不只前端隐藏，检索阶段也必须过滤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用户只能在自己、部门或显式授权范围内召回文档。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1417320" cy="685800"/>
          </a:xfrm>
          <a:prstGeom prst="roundRect">
            <a:avLst/>
          </a:prstGeom>
          <a:solidFill>
            <a:srgbClr val="E5F3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用户登录
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31720"/>
            <a:ext cx="150876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身份解析
admin /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148840"/>
            <a:ext cx="1874519" cy="960120"/>
          </a:xfrm>
          <a:prstGeom prst="roundRect">
            <a:avLst/>
          </a:prstGeom>
          <a:solidFill>
            <a:srgbClr val="DFF5F1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可访问文档集合
owner / user /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148840"/>
            <a:ext cx="19202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Chroma metadata filter
document_id in [...]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2331720"/>
            <a:ext cx="150876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</a:rPr>
              <a:t>RAG 回答
仅基于权限内证据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670048"/>
            <a:ext cx="5029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51960" y="2670048"/>
            <a:ext cx="640080" cy="0"/>
          </a:xfrm>
          <a:prstGeom prst="line">
            <a:avLst/>
          </a:prstGeom>
          <a:ln w="25400">
            <a:solidFill>
              <a:srgbClr val="0D7C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2670048"/>
            <a:ext cx="640080" cy="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51560" y="4434840"/>
            <a:ext cx="98755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681728"/>
            <a:ext cx="9144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11D48"/>
                </a:solidFill>
                <a:latin typeface="Microsoft YaHei"/>
              </a:rPr>
              <a:t>审计日志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681728"/>
            <a:ext cx="70408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记录权限授予、删除、用户组成员变化，后续可用于企业知识库合规审查。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12 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文档处理质量报告：把入库质量量化出来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不是只看“上传成功”，而是看 chunk 是否可检索、可引用、可维护。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12264"/>
            <a:ext cx="10972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icrosoft YaHei"/>
              </a:rPr>
              <a:t>文本可读性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057400"/>
            <a:ext cx="6217920" cy="25603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77440" y="2057400"/>
            <a:ext cx="5347411" cy="256032"/>
          </a:xfrm>
          <a:prstGeom prst="roundRect">
            <a:avLst/>
          </a:prstGeom>
          <a:solidFill>
            <a:srgbClr val="0D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2039112"/>
            <a:ext cx="4572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25496"/>
            <a:ext cx="10972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icrosoft YaHei"/>
              </a:rPr>
              <a:t>表格结构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770632"/>
            <a:ext cx="6217920" cy="25603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2770632"/>
            <a:ext cx="4849977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52344"/>
            <a:ext cx="4572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38728"/>
            <a:ext cx="10972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icrosoft YaHei"/>
              </a:rPr>
              <a:t>OCR 噪声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3483864"/>
            <a:ext cx="6217920" cy="25603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77440" y="3483864"/>
            <a:ext cx="4476902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3465576"/>
            <a:ext cx="4572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51959"/>
            <a:ext cx="10972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icrosoft YaHei"/>
              </a:rPr>
              <a:t>来源完整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4197096"/>
            <a:ext cx="6217920" cy="25603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77440" y="4197096"/>
            <a:ext cx="5844844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4178808"/>
            <a:ext cx="4572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65192"/>
            <a:ext cx="10972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Microsoft YaHei"/>
              </a:rPr>
              <a:t>可检索性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4910328"/>
            <a:ext cx="6217920" cy="25603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77440" y="4910328"/>
            <a:ext cx="5471769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4892040"/>
            <a:ext cx="45720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88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2057400"/>
            <a:ext cx="1645920" cy="3108960"/>
          </a:xfrm>
          <a:prstGeom prst="roundRect">
            <a:avLst/>
          </a:prstGeom>
          <a:solidFill>
            <a:srgbClr val="DFF5F1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331720"/>
            <a:ext cx="10972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7C74"/>
                </a:solidFill>
                <a:latin typeface="Microsoft YaHei"/>
              </a:rPr>
              <a:t>质量报告用于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834640"/>
            <a:ext cx="1143000" cy="1463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发现 OCR 噪声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定位低质切块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决定是否重跑 LLM 整理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支撑评测复盘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13 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阶段性效果：预处理增强后，RAG 链路达到可接受演示精度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评测结果主要用于迭代方向判断，不包装成最终生产指标。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390595"/>
            <a:ext cx="960120" cy="1958644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061411"/>
            <a:ext cx="114300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icrosoft YaHei"/>
              </a:rPr>
              <a:t>71.4%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495544"/>
            <a:ext cx="1600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初始链路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3154679"/>
            <a:ext cx="960120" cy="2194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2825496"/>
            <a:ext cx="114300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80.0%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5495544"/>
            <a:ext cx="1600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BM25 调优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880359"/>
            <a:ext cx="960120" cy="2468880"/>
          </a:xfrm>
          <a:prstGeom prst="roundRect">
            <a:avLst/>
          </a:prstGeom>
          <a:solidFill>
            <a:srgbClr val="0D7C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2551175"/>
            <a:ext cx="114300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D7C74"/>
                </a:solidFill>
                <a:latin typeface="Microsoft YaHei"/>
              </a:rPr>
              <a:t>90.0%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5495544"/>
            <a:ext cx="1600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v1 修正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723997"/>
            <a:ext cx="960120" cy="262524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2394813"/>
            <a:ext cx="114300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95.7%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495544"/>
            <a:ext cx="1600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预处理增强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869387"/>
            <a:ext cx="960120" cy="24798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2540203"/>
            <a:ext cx="114300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Microsoft YaHei"/>
              </a:rPr>
              <a:t>90.4%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5495544"/>
            <a:ext cx="16002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Microsoft YaHei"/>
              </a:rPr>
              <a:t>v2 扩展集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80760"/>
            <a:ext cx="101498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icrosoft YaHei"/>
              </a:rPr>
              <a:t>提升来源：表格事实化、OCR fallback、LLM 归一化、BM25 混合召回、Reranker 精排、防幻觉提示词。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14 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项目亮点：从 RAG Demo 到工程化知识库系统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展示的不只是模型调用，而是一条可解释、可维护、可扩展的应用链路。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93392"/>
            <a:ext cx="3063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31136"/>
            <a:ext cx="22402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D7C74"/>
                </a:solidFill>
                <a:latin typeface="Microsoft YaHei"/>
              </a:rPr>
              <a:t>文档预处理优先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60904"/>
            <a:ext cx="242316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扫描件、水印、表格密集 PDF 均有处理策略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93392"/>
            <a:ext cx="3063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31136"/>
            <a:ext cx="22402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YaHei"/>
              </a:rPr>
              <a:t>可溯源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60904"/>
            <a:ext cx="242316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答案返回引用来源，证据不足时拒绝编造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93392"/>
            <a:ext cx="3063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22402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E11D48"/>
                </a:solidFill>
                <a:latin typeface="Microsoft YaHei"/>
              </a:rPr>
              <a:t>权限检索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60904"/>
            <a:ext cx="242316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后端接口和向量检索阶段共同生效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13632"/>
            <a:ext cx="3063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51376"/>
            <a:ext cx="22402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Microsoft YaHei"/>
              </a:rPr>
              <a:t>混合检索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81144"/>
            <a:ext cx="242316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向量 + BM25 + 关键词 + Reranker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913632"/>
            <a:ext cx="3063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151376"/>
            <a:ext cx="22402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Microsoft YaHei"/>
              </a:rPr>
              <a:t>可观测入库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581144"/>
            <a:ext cx="242316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任务表、质量分数、进度条、错误日志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913632"/>
            <a:ext cx="306324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151376"/>
            <a:ext cx="224028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Microsoft YaHei"/>
              </a:rPr>
              <a:t>Agent 化路线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81144"/>
            <a:ext cx="242316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</a:rPr>
              <a:t>当前轻量调度，后续 LangGraph 节点化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29184"/>
            <a:ext cx="1234440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15 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8412480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后续规划：把轻量调度升级为真正的 LangGraph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969264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在当前可演示链路上继续增强自动决策、工具调用和评测闭环。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110642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29718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0432" y="2441448"/>
            <a:ext cx="786384" cy="310896"/>
          </a:xfrm>
          <a:prstGeom prst="roundRect">
            <a:avLst/>
          </a:prstGeom>
          <a:solidFill>
            <a:srgbClr val="DFF5F1"/>
          </a:solidFill>
          <a:ln w="8890">
            <a:solidFill>
              <a:srgbClr val="0D7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7C74"/>
                </a:solidFill>
                <a:latin typeface="Microsoft YaHei"/>
              </a:rPr>
              <a:t>短期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224028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完善入库队列与 GPU 并发控制
沉淀更大规模评测集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148840"/>
            <a:ext cx="29718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73752" y="2441448"/>
            <a:ext cx="786384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563EB"/>
                </a:solidFill>
                <a:latin typeface="Microsoft YaHei"/>
              </a:rPr>
              <a:t>中期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3063240"/>
            <a:ext cx="224028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LangGraph 化：探测、OCR、切块、检索、生成拆成节点
支持失败重试和可视化轨迹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148840"/>
            <a:ext cx="29718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77072" y="2441448"/>
            <a:ext cx="786384" cy="310896"/>
          </a:xfrm>
          <a:prstGeom prst="roundRect">
            <a:avLst/>
          </a:prstGeom>
          <a:solidFill>
            <a:srgbClr val="E5F3FF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C3AED"/>
                </a:solidFill>
                <a:latin typeface="Microsoft YaHei"/>
              </a:rPr>
              <a:t>长期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063240"/>
            <a:ext cx="224028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Microsoft YaHei"/>
              </a:rPr>
              <a:t>接入企业 SSO / PostgreSQL / 对象存储
支持多知识库、多租户和审计报表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715000"/>
            <a:ext cx="10332720" cy="34747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D7C74"/>
                </a:solidFill>
                <a:latin typeface="Microsoft YaHei"/>
              </a:rPr>
              <a:t>汇报收束句：这不是一个只会“接大模型接口”的 Demo，而是围绕企业文档质量、权限和可溯源构建的 RAG 工程化原型。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