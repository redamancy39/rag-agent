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6675120" cy="1234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21E36"/>
                </a:solidFill>
                <a:latin typeface="Microsoft YaHei"/>
              </a:rPr>
              <a:t>多用户权限控制的
RAG Agent 知识库系统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331720"/>
            <a:ext cx="694944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C82"/>
                </a:solidFill>
                <a:latin typeface="Microsoft YaHei"/>
              </a:rPr>
              <a:t>面向企业文档的预处理增强、权限检索与可溯源问答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907792"/>
            <a:ext cx="141732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6FD6"/>
                </a:solidFill>
                <a:latin typeface="Microsoft YaHei"/>
              </a:rPr>
              <a:t>AIGC 应用项目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2907792"/>
            <a:ext cx="169164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766E"/>
                </a:solidFill>
                <a:latin typeface="Microsoft YaHei"/>
              </a:rPr>
              <a:t>文档预处理增强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9663" y="2907792"/>
            <a:ext cx="169164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0165B"/>
                </a:solidFill>
                <a:latin typeface="Microsoft YaHei"/>
              </a:rPr>
              <a:t>企业知识库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7772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Vue3 · FastAPI · ChromaDB · BGE · PaddleOCR · DeepSeek API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822960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941832"/>
            <a:ext cx="566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9555480" y="1417320"/>
            <a:ext cx="566928" cy="566928"/>
          </a:xfrm>
          <a:prstGeom prst="ellipse">
            <a:avLst/>
          </a:prstGeom>
          <a:solidFill>
            <a:srgbClr val="1D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536192"/>
            <a:ext cx="566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2331720"/>
            <a:ext cx="566928" cy="566928"/>
          </a:xfrm>
          <a:prstGeom prst="ellipse">
            <a:avLst/>
          </a:prstGeom>
          <a:solidFill>
            <a:srgbClr val="E01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450591"/>
            <a:ext cx="566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0" y="288036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0" y="2999232"/>
            <a:ext cx="566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3977639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096511"/>
            <a:ext cx="566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96528" y="1097280"/>
            <a:ext cx="758952" cy="603504"/>
          </a:xfrm>
          <a:prstGeom prst="line">
            <a:avLst/>
          </a:prstGeom>
          <a:ln w="25400">
            <a:solidFill>
              <a:srgbClr val="1D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006840" y="1938528"/>
            <a:ext cx="822960" cy="393192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9720" y="2606040"/>
            <a:ext cx="1051560" cy="557784"/>
          </a:xfrm>
          <a:prstGeom prst="line">
            <a:avLst/>
          </a:prstGeom>
          <a:ln w="25400">
            <a:solidFill>
              <a:srgbClr val="E01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418320" y="3456432"/>
            <a:ext cx="822960" cy="52120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90688" y="4983480"/>
            <a:ext cx="347472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21E36"/>
                </a:solidFill>
                <a:latin typeface="Microsoft YaHei"/>
              </a:rPr>
              <a:t>从“能问”走向“能准、可查、可控”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02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项目背景：企业文档 RAG 的难点在入库质量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国标、扫描件、表格型 PDF 中，错误往往发生在检索之前。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165B"/>
                </a:solidFill>
                <a:latin typeface="Microsoft YaHei"/>
              </a:rPr>
              <a:t>普通 RAG 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04288"/>
            <a:ext cx="4206240" cy="20116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PDF 文本层乱码或不可读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表格按行错乱，对象和值无法对应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OCR 断行、错字、单位/上标识别错误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缺少页码、表号和来源信息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证据不足时模型容易编造答案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828800"/>
            <a:ext cx="530352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2084831"/>
            <a:ext cx="14630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</a:rPr>
              <a:t>核心判断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514600"/>
            <a:ext cx="4480560" cy="7863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RAG 的准确率上限，很大程度取决于文档预处理和切块质量。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3730752"/>
            <a:ext cx="4343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因此本项目优先优化“文档入库前”的 OCR、表格、切块质量与可溯源 metadata。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6916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340096"/>
            <a:ext cx="1417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Microsoft YaHei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687568"/>
            <a:ext cx="14356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复杂格式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212080"/>
            <a:ext cx="16916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5340096"/>
            <a:ext cx="1417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D6FD6"/>
                </a:solidFill>
                <a:latin typeface="Microsoft YaHei"/>
              </a:rPr>
              <a:t>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5687568"/>
            <a:ext cx="14356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扫描件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212080"/>
            <a:ext cx="16916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5340096"/>
            <a:ext cx="1417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Microsoft YaHei"/>
              </a:rPr>
              <a:t>表格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5687568"/>
            <a:ext cx="14356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事实化转写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5212080"/>
            <a:ext cx="16916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5340096"/>
            <a:ext cx="1417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0165B"/>
                </a:solidFill>
                <a:latin typeface="Microsoft YaHei"/>
              </a:rPr>
              <a:t>引用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5687568"/>
            <a:ext cx="14356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页码可溯源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5212080"/>
            <a:ext cx="16916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5340096"/>
            <a:ext cx="1417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Microsoft YaHei"/>
              </a:rPr>
              <a:t>拒答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5687568"/>
            <a:ext cx="14356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降低幻觉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03 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项目目标：从本地 RAG Demo 升级为工程化知识库系统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目标是展示企业级大模型应用开发能力，而不是只完成一次问答。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2084831"/>
            <a:ext cx="1234440" cy="329184"/>
          </a:xfrm>
          <a:prstGeom prst="roundRect">
            <a:avLst/>
          </a:prstGeom>
          <a:solidFill>
            <a:srgbClr val="E5F7F4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766E"/>
                </a:solidFill>
                <a:latin typeface="Microsoft YaHei"/>
              </a:rPr>
              <a:t>文档处理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06624"/>
            <a:ext cx="2788920" cy="1737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文件上传与类型识别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PDF / OCR / 表格解析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切块质量评分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LLM 切块整理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6592" y="2084831"/>
            <a:ext cx="1234440" cy="329184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6FD6"/>
                </a:solidFill>
                <a:latin typeface="Microsoft YaHei"/>
              </a:rPr>
              <a:t>权限检索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706624"/>
            <a:ext cx="2788920" cy="1737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JWT 登录鉴权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用户 / 部门权限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后端接口过滤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检索阶段 document_id 过滤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82880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19" y="2084831"/>
            <a:ext cx="1234440" cy="329184"/>
          </a:xfrm>
          <a:prstGeom prst="roundRect">
            <a:avLst/>
          </a:prstGeom>
          <a:solidFill>
            <a:srgbClr val="E5F7F4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0165B"/>
                </a:solidFill>
                <a:latin typeface="Microsoft YaHei"/>
              </a:rPr>
              <a:t>可溯源问答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706624"/>
            <a:ext cx="2788920" cy="1737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混合检索 + Reranker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分类判断 / 结论 / 依据 / 引用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证据不足返回未找到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问答日志与审计日志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06440"/>
            <a:ext cx="10058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Microsoft YaHei"/>
              </a:rPr>
              <a:t>一句话定位：带权限、可观测、可评测、可扩展 Agent 的企业知识库系统。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04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系统架构：前端、后端、业务库、向量库与模型服务解耦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模块化分层便于展示、测试和后续替换模型或数据库。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057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Vue3 前端
上传 / 列表 / 问答 / 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057400"/>
            <a:ext cx="2057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FastAPI 后端
API / Service /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057400"/>
            <a:ext cx="2057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RAG 模块
Loader / Chunker / Retriever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057400"/>
            <a:ext cx="2057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模型服务
BGE / OCR / DeepSeek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514600"/>
            <a:ext cx="457200" cy="0"/>
          </a:xfrm>
          <a:prstGeom prst="line">
            <a:avLst/>
          </a:prstGeom>
          <a:ln w="25400">
            <a:solidFill>
              <a:srgbClr val="1D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2514600"/>
            <a:ext cx="45720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18120" y="2514600"/>
            <a:ext cx="457200" cy="0"/>
          </a:xfrm>
          <a:prstGeom prst="line">
            <a:avLst/>
          </a:prstGeom>
          <a:ln w="25400">
            <a:solidFill>
              <a:srgbClr val="E01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3977639"/>
            <a:ext cx="2423160" cy="914400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SQLite
用户 / 权限 / 任务 / 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977639"/>
            <a:ext cx="2423160" cy="914400"/>
          </a:xfrm>
          <a:prstGeom prst="roundRect">
            <a:avLst/>
          </a:prstGeom>
          <a:solidFill>
            <a:srgbClr val="E5F7F4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ChromaDB
向量 / metadata 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77639"/>
            <a:ext cx="24231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C6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data/uploads
原始文件本地存储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017520" y="2971800"/>
            <a:ext cx="1188720" cy="1005839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53328" y="2971800"/>
            <a:ext cx="731520" cy="1005839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070848" y="2971800"/>
            <a:ext cx="210312" cy="1005839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5742432"/>
            <a:ext cx="102412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C6C82"/>
                </a:solidFill>
                <a:latin typeface="Microsoft YaHei"/>
              </a:rPr>
              <a:t>特点：配置集中在 .env / config.py；核心逻辑不堆在 main.py；权限在后端和检索阶段同时生效。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05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完整链路：从上传文档到可溯源问答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重点高亮的不是最后生成答案，而是答案之前的可控证据链。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登录
JWT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75688" y="2221991"/>
            <a:ext cx="694944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70632" y="1874519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上传
PDF/TXT/MD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43400" y="2221991"/>
            <a:ext cx="694944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38344" y="1874519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Agent
文件探测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11112" y="2221991"/>
            <a:ext cx="694943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06055" y="1874519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解析/OCR
表格抽取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78824" y="2221991"/>
            <a:ext cx="694944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73768" y="1874519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切块质量
评分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Embedding
入库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75688" y="3822191"/>
            <a:ext cx="694944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70632" y="3474720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权限过滤
检索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43400" y="3822191"/>
            <a:ext cx="694944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38344" y="3474720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混合召回
Reranker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11112" y="3822191"/>
            <a:ext cx="694943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06055" y="3474720"/>
            <a:ext cx="15727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证据约束
生成答案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60152" y="2578608"/>
            <a:ext cx="0" cy="896112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878824" y="3822191"/>
            <a:ext cx="694944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611112" y="3822191"/>
            <a:ext cx="694943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343400" y="3822191"/>
            <a:ext cx="694944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83480" y="1444752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Microsoft YaHei"/>
              </a:rPr>
              <a:t>预处理增强区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719072"/>
            <a:ext cx="4892040" cy="1024128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983480"/>
            <a:ext cx="47548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Microsoft YaHei"/>
              </a:rPr>
              <a:t>这一区域决定了后续检索能否找到正确证据。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06 预处理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重点一：入库前先探测，再选择处理策略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轻量 Ingestion Agent 不盲目调用 OCR 或 LLM，而是根据文件质量决策。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探测信号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931920" cy="2468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文件类型识别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PDF 文本层可读性判断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表格密度检测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OCR 需求判断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LLM 归一化需求判断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切块质量评分与风险提示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28800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D6FD6"/>
                </a:solidFill>
                <a:latin typeface="Microsoft YaHei"/>
              </a:rPr>
              <a:t>处理策略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240280"/>
            <a:ext cx="1143000" cy="292608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可读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258568"/>
            <a:ext cx="3931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PyMuPDF 提取正文、页码和表格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3026664"/>
            <a:ext cx="1143000" cy="292608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文本层异常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044952"/>
            <a:ext cx="3931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PaddleOCR fallback，保留页级来源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3813048"/>
            <a:ext cx="1143000" cy="292608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表格密集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831335"/>
            <a:ext cx="3931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表格行转成可检索事实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4599432"/>
            <a:ext cx="1143000" cy="292608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低质量切块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617720"/>
            <a:ext cx="3931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LLM 结构化归一化，可通过上传开关控制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99669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E0165B"/>
                </a:solidFill>
                <a:latin typeface="Microsoft YaHei"/>
              </a:rPr>
              <a:t>结果：每个 chunk 都尽量带上文件名、页码、表格信息、质量分数和处理来源。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07 表格增强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重点二：表格不是简单抽文字，而是转成可检索事实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国标类文档的答案经常藏在表格中，必须保留对象、限量值和来源。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0165B"/>
                </a:solidFill>
                <a:latin typeface="Microsoft YaHei"/>
              </a:rPr>
              <a:t>处理前：表格行被拆散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4206240" cy="1691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胶基糖果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己二酸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4.0 g/kg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页码和表格关系弱</a:t>
            </a:r>
          </a:p>
          <a:p>
            <a:pPr>
              <a:spcAft>
                <a:spcPts val="500"/>
              </a:spcAft>
              <a:defRPr sz="1500">
                <a:solidFill>
                  <a:srgbClr val="121E36"/>
                </a:solidFill>
                <a:latin typeface="Microsoft YaHei"/>
              </a:defRPr>
            </a:pPr>
            <a:r>
              <a:t>• 检索时容易只命中数值或名称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74519"/>
            <a:ext cx="5074920" cy="324612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2084831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处理后：事实化 + 可溯源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697480"/>
            <a:ext cx="4160520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E36"/>
                </a:solidFill>
                <a:latin typeface="Microsoft YaHei"/>
              </a:rPr>
              <a:t>己二酸在胶基糖果中的最大使用量为 4.0 g/kg。
来源文件：GB 2760-2024；页码：第 X 页；表格：表 X。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977639"/>
            <a:ext cx="4160520" cy="8046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C82"/>
                </a:solidFill>
                <a:latin typeface="Microsoft YaHei"/>
              </a:defRPr>
            </a:pPr>
            <a:r>
              <a:t>• 对象和值绑定</a:t>
            </a:r>
          </a:p>
          <a:p>
            <a:pPr>
              <a:spcAft>
                <a:spcPts val="500"/>
              </a:spcAft>
              <a:defRPr sz="1300">
                <a:solidFill>
                  <a:srgbClr val="5C6C82"/>
                </a:solidFill>
                <a:latin typeface="Microsoft YaHei"/>
              </a:defRPr>
            </a:pPr>
            <a:r>
              <a:t>• 引用页码清晰</a:t>
            </a:r>
          </a:p>
          <a:p>
            <a:pPr>
              <a:spcAft>
                <a:spcPts val="500"/>
              </a:spcAft>
              <a:defRPr sz="1300">
                <a:solidFill>
                  <a:srgbClr val="5C6C82"/>
                </a:solidFill>
                <a:latin typeface="Microsoft YaHei"/>
              </a:defRPr>
            </a:pPr>
            <a:r>
              <a:t>• 更适合 BM25 / 关键词 / 向量共同召回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42432" y="3493008"/>
            <a:ext cx="612648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08 OCR/LLM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重点三：OCR 与 LLM 切块整理提高低质量文档可用性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对扫描件和复杂表格，预处理质量直接决定后续答案质量。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19656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OCR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1837943"/>
            <a:ext cx="7132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文本层不可读、扫描件或乱码 PDF 自动进入 OCR 路径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05456"/>
            <a:ext cx="310896" cy="310896"/>
          </a:xfrm>
          <a:prstGeom prst="ellipse">
            <a:avLst/>
          </a:prstGeom>
          <a:solidFill>
            <a:srgbClr val="1D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96312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断行与单位修复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514600"/>
            <a:ext cx="7132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处理奇怪换行、μg/kg、10 的上标等关键形式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18211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72968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质量评分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191256"/>
            <a:ext cx="7132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给 chunk 标记 high / medium / low 和风险 flags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58768"/>
            <a:ext cx="310896" cy="310896"/>
          </a:xfrm>
          <a:prstGeom prst="ellipse">
            <a:avLst/>
          </a:prstGeom>
          <a:solidFill>
            <a:srgbClr val="E01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849624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LLM 归一化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3867911"/>
            <a:ext cx="7132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只对候选低质量 OCR / 表格块整理，避免所有块强制调用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535424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526280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进度可视化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4544568"/>
            <a:ext cx="7132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前端显示 OCR、LLM、Embedding、入库阶段和当前进度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800600"/>
            <a:ext cx="27432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965192"/>
            <a:ext cx="914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</a:rPr>
              <a:t>设计原则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5257800"/>
            <a:ext cx="21488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E36"/>
                </a:solidFill>
                <a:latin typeface="Microsoft YaHei"/>
              </a:rPr>
              <a:t>把算力用在最影响准确率的块上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09 可观测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质量报告：让文档入库从黑盒变成可观察流程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每个文档不只记录“成功/失败”，还输出可解释的处理质量。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828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002536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Microsoft YaHei"/>
              </a:rPr>
              <a:t>健康分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350008"/>
            <a:ext cx="157276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综合质量评分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874519"/>
            <a:ext cx="1828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2002536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0165B"/>
                </a:solidFill>
                <a:latin typeface="Microsoft YaHei"/>
              </a:rPr>
              <a:t>风险等级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350008"/>
            <a:ext cx="157276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低 / 中 / 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874519"/>
            <a:ext cx="1828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4" y="2002536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D6FD6"/>
                </a:solidFill>
                <a:latin typeface="Microsoft YaHei"/>
              </a:rPr>
              <a:t>OCR 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2350008"/>
            <a:ext cx="157276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扫描件处理占比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874519"/>
            <a:ext cx="1828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4" y="2002536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Microsoft YaHei"/>
              </a:rPr>
              <a:t>表格块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2350008"/>
            <a:ext cx="157276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结构化处理重点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874519"/>
            <a:ext cx="1828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0264" y="2002536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Microsoft YaHei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350008"/>
            <a:ext cx="157276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归一化块数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794760"/>
            <a:ext cx="20116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Agent 探测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7520" y="4105656"/>
            <a:ext cx="640080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0" y="3794760"/>
            <a:ext cx="20116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解析 / OCR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79" y="4105656"/>
            <a:ext cx="640081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3794760"/>
            <a:ext cx="20116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表格归一化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21040" y="4105656"/>
            <a:ext cx="640080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61119" y="3794760"/>
            <a:ext cx="20116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21E36"/>
                </a:solidFill>
                <a:latin typeface="Microsoft YaHei"/>
              </a:rPr>
              <a:t>分块与入库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10058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1E36"/>
                </a:solidFill>
                <a:latin typeface="Microsoft YaHei"/>
              </a:rPr>
              <a:t>用途：快速定位失败原因、判断是否需要重建向量、筛选需要人工抽查的高风险文档。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10 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真实案例：扫描件与水印 PDF 是预处理必须解决的问题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这类文档如果直接粗切块，表格关系、页码来源和关键数值都可能丢失。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" y="1746504"/>
            <a:ext cx="3593592" cy="4325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d132a56-daf2-42a7-80b7-bd9b1952ca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352044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35424" y="1746504"/>
            <a:ext cx="3593592" cy="4325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80fb6e19-cc2c-4c0b-8475-578db475a3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83080"/>
            <a:ext cx="352044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172200"/>
            <a:ext cx="31089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Microsoft YaHei"/>
              </a:rPr>
              <a:t>PDF 扫描件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6172200"/>
            <a:ext cx="31089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0165B"/>
                </a:solidFill>
                <a:latin typeface="Microsoft YaHei"/>
              </a:rPr>
              <a:t>带水印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20240"/>
            <a:ext cx="297180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12848"/>
            <a:ext cx="1188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E36"/>
                </a:solidFill>
                <a:latin typeface="Microsoft YaHei"/>
              </a:rPr>
              <a:t>处理目标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651760"/>
            <a:ext cx="2331720" cy="1691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21E36"/>
                </a:solidFill>
                <a:latin typeface="Microsoft YaHei"/>
              </a:defRPr>
            </a:pPr>
            <a:r>
              <a:t>• 识别是否需要 OCR fallback</a:t>
            </a:r>
          </a:p>
          <a:p>
            <a:pPr>
              <a:spcAft>
                <a:spcPts val="500"/>
              </a:spcAft>
              <a:defRPr sz="1200">
                <a:solidFill>
                  <a:srgbClr val="121E36"/>
                </a:solidFill>
                <a:latin typeface="Microsoft YaHei"/>
              </a:defRPr>
            </a:pPr>
            <a:r>
              <a:t>• 去除或弱化水印干扰</a:t>
            </a:r>
          </a:p>
          <a:p>
            <a:pPr>
              <a:spcAft>
                <a:spcPts val="500"/>
              </a:spcAft>
              <a:defRPr sz="1200">
                <a:solidFill>
                  <a:srgbClr val="121E36"/>
                </a:solidFill>
                <a:latin typeface="Microsoft YaHei"/>
              </a:defRPr>
            </a:pPr>
            <a:r>
              <a:t>• 把表格行转成事实文本</a:t>
            </a:r>
          </a:p>
          <a:p>
            <a:pPr>
              <a:spcAft>
                <a:spcPts val="500"/>
              </a:spcAft>
              <a:defRPr sz="1200">
                <a:solidFill>
                  <a:srgbClr val="121E36"/>
                </a:solidFill>
                <a:latin typeface="Microsoft YaHei"/>
              </a:defRPr>
            </a:pPr>
            <a:r>
              <a:t>• 保留页码、表号、文件名</a:t>
            </a:r>
          </a:p>
          <a:p>
            <a:pPr>
              <a:spcAft>
                <a:spcPts val="500"/>
              </a:spcAft>
              <a:defRPr sz="1200">
                <a:solidFill>
                  <a:srgbClr val="121E36"/>
                </a:solidFill>
                <a:latin typeface="Microsoft YaHei"/>
              </a:defRPr>
            </a:pPr>
            <a:r>
              <a:t>• 对低质量块触发 LLM 归一化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892040"/>
            <a:ext cx="24231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核心价值：让“看得到但机器读不准”的文档，也能变成可检索、可引用的知识。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11 检索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检索增强与防幻觉：让答案有依据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标准号、限量值、单位和专业术语需要比普通语义检索更强的召回策略。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3533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用户问题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39112" y="2386584"/>
            <a:ext cx="521208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60320" y="2057400"/>
            <a:ext cx="13533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向量召回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13631" y="2386584"/>
            <a:ext cx="521209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34840" y="2057400"/>
            <a:ext cx="13533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BM25/关键词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88152" y="2386584"/>
            <a:ext cx="521207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59" y="2057400"/>
            <a:ext cx="13533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1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Reranker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62671" y="2386584"/>
            <a:ext cx="521208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2057400"/>
            <a:ext cx="13533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证据判断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37192" y="2386584"/>
            <a:ext cx="521208" cy="0"/>
          </a:xfrm>
          <a:prstGeom prst="line">
            <a:avLst/>
          </a:prstGeom>
          <a:ln w="25400">
            <a:solidFill>
              <a:srgbClr val="5C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0" y="2057400"/>
            <a:ext cx="13533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121E36"/>
                </a:solidFill>
                <a:latin typeface="Microsoft YaHei"/>
              </a:rPr>
              <a:t>结构化答案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75887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165B"/>
                </a:solidFill>
                <a:latin typeface="Microsoft YaHei"/>
              </a:rPr>
              <a:t>防幻觉策略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96512"/>
            <a:ext cx="4800600" cy="1325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证据不足时返回“未找到”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答案必须包含分类判断、结论、依据、引用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检索依据默认折叠，但可展开核查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问答日志记录问题、答案和引用来源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75887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适配场景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96512"/>
            <a:ext cx="4023360" cy="1325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GB 标准号查询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添加剂/污染物/兽药限量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跨文档引用问题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企业内部制度问答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12 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阶段性效果：预处理增强后，RAG 链路达到可接受准确率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评测用于发现问题，不是简单追求单次分数。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48256"/>
            <a:ext cx="1645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D6FD6"/>
                </a:solidFill>
                <a:latin typeface="Microsoft YaHei"/>
              </a:rP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95728"/>
            <a:ext cx="16642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v2 测试集问题数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92024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2048256"/>
            <a:ext cx="1645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Microsoft YaHei"/>
              </a:rPr>
              <a:t>90.40%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2395728"/>
            <a:ext cx="16642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清理后离线重判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92024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2048256"/>
            <a:ext cx="1645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0165B"/>
                </a:solidFill>
                <a:latin typeface="Microsoft YaHei"/>
              </a:rPr>
              <a:t>6类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395728"/>
            <a:ext cx="166420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覆盖问题类型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920240"/>
            <a:ext cx="2011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048256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Microsoft YaHei"/>
              </a:rPr>
              <a:t>95%+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395728"/>
            <a:ext cx="17556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Microsoft YaHei"/>
              </a:rPr>
              <a:t>小规模增强实验水平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1371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E36"/>
                </a:solidFill>
                <a:latin typeface="Microsoft YaHei"/>
              </a:rPr>
              <a:t>覆盖问题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069080"/>
            <a:ext cx="3657600" cy="11430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添加剂使用量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污染物限量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兽药残留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产品标准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否定问题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跨文档问题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657600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E36"/>
                </a:solidFill>
                <a:latin typeface="Microsoft YaHei"/>
              </a:rPr>
              <a:t>剩余误差来源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4069080"/>
            <a:ext cx="4389120" cy="11430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复杂长表格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跨文档链式检索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OCR 质量波动</a:t>
            </a:r>
          </a:p>
          <a:p>
            <a:pPr>
              <a:spcAft>
                <a:spcPts val="500"/>
              </a:spcAft>
              <a:defRPr sz="1300">
                <a:solidFill>
                  <a:srgbClr val="121E36"/>
                </a:solidFill>
                <a:latin typeface="Microsoft YaHei"/>
              </a:defRPr>
            </a:pPr>
            <a:r>
              <a:t>• 题目本身歧义或脏数据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1498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Microsoft YaHei"/>
              </a:rPr>
              <a:t>结论：当前准确率已经可用于项目展示，后续重点转向 Agent 化和工程稳定性。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13 前端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可视化工作台：让评委能快速看懂系统能力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前端按工作区拆分，避免所有功能挤在同一页。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57200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3271" y="2093976"/>
            <a:ext cx="1143000" cy="292608"/>
          </a:xfrm>
          <a:prstGeom prst="roundRect">
            <a:avLst/>
          </a:prstGeom>
          <a:solidFill>
            <a:srgbClr val="E5F7F4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Microsoft YaHei"/>
              </a:rPr>
              <a:t>文档上传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7"/>
            <a:ext cx="3840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LLM 整理开关、上传进度、OCR/Embedding 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74519"/>
            <a:ext cx="457200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2093976"/>
            <a:ext cx="1143000" cy="292608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文档列表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532887"/>
            <a:ext cx="3840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上传者、状态、分块数、质量报告、管理员删除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74720"/>
            <a:ext cx="457200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3271" y="3694176"/>
            <a:ext cx="1143000" cy="292608"/>
          </a:xfrm>
          <a:prstGeom prst="roundRect">
            <a:avLst/>
          </a:prstGeom>
          <a:solidFill>
            <a:srgbClr val="E5F7F4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Microsoft YaHei"/>
              </a:rPr>
              <a:t>问答测试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133087"/>
            <a:ext cx="3840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多文档选择、对话式问答、四行结构化答案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474720"/>
            <a:ext cx="457200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3694176"/>
            <a:ext cx="1143000" cy="292608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系统配置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133087"/>
            <a:ext cx="3840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1E36"/>
                </a:solidFill>
                <a:latin typeface="Microsoft YaHei"/>
              </a:rPr>
              <a:t>能力矩阵、流程看板、模型配置、权限与审计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42432"/>
            <a:ext cx="10241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5C6C82"/>
                </a:solidFill>
                <a:latin typeface="Microsoft YaHei"/>
              </a:rPr>
              <a:t>建议现场演示：先打开系统配置页讲全局，再进入文档列表看质量报告，最后做一次问答。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14 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项目亮点：从 RAG Demo 到工程化知识库系统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亮点不只在模型调用，而在完整链路、权限和可观测性。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02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文档预处理增强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847088"/>
            <a:ext cx="64922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文件探测、OCR fallback、表格事实化和 LLM 切块整理。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05456"/>
            <a:ext cx="502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6FD6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05456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国标文档适配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523744"/>
            <a:ext cx="64922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针对标准号、限量值、单位、表格页码设计检索策略。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82112"/>
            <a:ext cx="502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165B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82112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权限感知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200400"/>
            <a:ext cx="64922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用户只能检索自己有权限的文档，后端和检索层同时过滤。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58768"/>
            <a:ext cx="502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58768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混合检索重排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877055"/>
            <a:ext cx="64922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融合 BGE 向量、BM25、关键词和 Reranker。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35424"/>
            <a:ext cx="502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35424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E36"/>
                </a:solidFill>
                <a:latin typeface="Microsoft YaHei"/>
              </a:rPr>
              <a:t>可观测可评测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553712"/>
            <a:ext cx="64922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C82"/>
                </a:solidFill>
                <a:latin typeface="Microsoft YaHei"/>
              </a:rPr>
              <a:t>任务表、质量报告、问答日志、审计日志和 500 条测试集。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058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Microsoft YaHei"/>
              </a:rPr>
              <a:t>最适合强调的差异化：我们把 RAG 的关键点前移到了“高质量文档入库”。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325880" cy="310896"/>
          </a:xfrm>
          <a:prstGeom prst="roundRect">
            <a:avLst/>
          </a:prstGeom>
          <a:solidFill>
            <a:srgbClr val="E4F2FF"/>
          </a:solidFill>
          <a:ln w="10160">
            <a:solidFill>
              <a:srgbClr val="1D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D6FD6"/>
                </a:solidFill>
                <a:latin typeface="Microsoft YaHei"/>
              </a:rPr>
              <a:t>15 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1E36"/>
                </a:solidFill>
                <a:latin typeface="Microsoft YaHei"/>
              </a:rPr>
              <a:t>后续规划：从轻量调度升级为 LangGraph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8778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Microsoft YaHei"/>
              </a:rPr>
              <a:t>当前系统已经能演示主链路，后续重点是节点化、可恢复、可扩展。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0835640" cy="18288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7492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1"/>
            <a:ext cx="2194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Microsoft YaHei"/>
              </a:rPr>
              <a:t>Ingestion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96896"/>
            <a:ext cx="36576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FileProbe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StrategyPlanner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Parse / OCR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Normalize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ChunkQuality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Index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QualityReport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07492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84831"/>
            <a:ext cx="2194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D6FD6"/>
                </a:solidFill>
                <a:latin typeface="Microsoft YaHei"/>
              </a:rPr>
              <a:t>QA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596896"/>
            <a:ext cx="36576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Permission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QuestionClassifier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RetrievalPlanner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HybridRetrieve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Rerank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EvidenceCheck</a:t>
            </a:r>
          </a:p>
          <a:p>
            <a:pPr>
              <a:spcAft>
                <a:spcPts val="500"/>
              </a:spcAft>
              <a:defRPr sz="1400">
                <a:solidFill>
                  <a:srgbClr val="121E36"/>
                </a:solidFill>
                <a:latin typeface="Microsoft YaHei"/>
              </a:defRPr>
            </a:pPr>
            <a:r>
              <a:t>• Answer /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79008"/>
            <a:ext cx="10058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0165B"/>
                </a:solidFill>
                <a:latin typeface="Microsoft YaHei"/>
              </a:rPr>
              <a:t>目标：把文档入库和问答过程拆成可观察、可回滚、可扩展的 Agent 工作流。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